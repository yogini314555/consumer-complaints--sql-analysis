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0B395E5E-9D19-47BB-A663-75854D8D10E7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226C828-C40F-4470-B469-BCDA217E2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940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95E5E-9D19-47BB-A663-75854D8D10E7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C828-C40F-4470-B469-BCDA217E2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482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B395E5E-9D19-47BB-A663-75854D8D10E7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26C828-C40F-4470-B469-BCDA217E2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305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95E5E-9D19-47BB-A663-75854D8D10E7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C828-C40F-4470-B469-BCDA217E2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43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95E5E-9D19-47BB-A663-75854D8D10E7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C828-C40F-4470-B469-BCDA217E2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142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95E5E-9D19-47BB-A663-75854D8D10E7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C828-C40F-4470-B469-BCDA217E2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519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95E5E-9D19-47BB-A663-75854D8D10E7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C828-C40F-4470-B469-BCDA217E2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313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95E5E-9D19-47BB-A663-75854D8D10E7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C828-C40F-4470-B469-BCDA217E2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7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95E5E-9D19-47BB-A663-75854D8D10E7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C828-C40F-4470-B469-BCDA217E2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772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95E5E-9D19-47BB-A663-75854D8D10E7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C828-C40F-4470-B469-BCDA217E2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146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B395E5E-9D19-47BB-A663-75854D8D10E7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26C828-C40F-4470-B469-BCDA217E2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647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B395E5E-9D19-47BB-A663-75854D8D10E7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26C828-C40F-4470-B469-BCDA217E2B86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20710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B395E5E-9D19-47BB-A663-75854D8D10E7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26C828-C40F-4470-B469-BCDA217E2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6531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95E5E-9D19-47BB-A663-75854D8D10E7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C828-C40F-4470-B469-BCDA217E2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3755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95E5E-9D19-47BB-A663-75854D8D10E7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C828-C40F-4470-B469-BCDA217E2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4896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95E5E-9D19-47BB-A663-75854D8D10E7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C828-C40F-4470-B469-BCDA217E2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296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B395E5E-9D19-47BB-A663-75854D8D10E7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26C828-C40F-4470-B469-BCDA217E2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02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95E5E-9D19-47BB-A663-75854D8D10E7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26C828-C40F-4470-B469-BCDA217E2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1129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01A0F-7F21-444B-BDAC-BDE11BD268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latin typeface="Arial Narrow" panose="020B0606020202030204" pitchFamily="34" charset="0"/>
              </a:rPr>
              <a:t>CONSUMER COMPLAINTS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6825AF-301E-45C2-A24C-23E7274045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DATA  ANALYSIS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BY YOGINI VIRKAR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8621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838F12-2FA1-4602-89F5-D0CCB6239984}"/>
              </a:ext>
            </a:extLst>
          </p:cNvPr>
          <p:cNvSpPr txBox="1"/>
          <p:nvPr/>
        </p:nvSpPr>
        <p:spPr>
          <a:xfrm>
            <a:off x="1651000" y="510139"/>
            <a:ext cx="1014957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Problem Statement:</a:t>
            </a:r>
          </a:p>
          <a:p>
            <a:r>
              <a:rPr lang="en-IN" dirty="0">
                <a:latin typeface="Bahnschrift Light Condensed" panose="020B0502040204020203" pitchFamily="34" charset="0"/>
                <a:cs typeface="Arial" panose="020B0604020202020204" pitchFamily="34" charset="0"/>
              </a:rPr>
              <a:t>You have been hired as a Data Analyst for a consumer protection organization. Your task is to</a:t>
            </a:r>
          </a:p>
          <a:p>
            <a:r>
              <a:rPr lang="en-IN" dirty="0">
                <a:latin typeface="Bahnschrift Light Condensed" panose="020B0502040204020203" pitchFamily="34" charset="0"/>
                <a:cs typeface="Arial" panose="020B0604020202020204" pitchFamily="34" charset="0"/>
              </a:rPr>
              <a:t>explore complaints lodged against Bank of America and identify areas that need attention from</a:t>
            </a:r>
          </a:p>
          <a:p>
            <a:r>
              <a:rPr lang="en-IN" dirty="0">
                <a:latin typeface="Bahnschrift Light Condensed" panose="020B0502040204020203" pitchFamily="34" charset="0"/>
                <a:cs typeface="Arial" panose="020B0604020202020204" pitchFamily="34" charset="0"/>
              </a:rPr>
              <a:t>both the business and policy-making perspectives.</a:t>
            </a:r>
          </a:p>
          <a:p>
            <a:r>
              <a:rPr lang="en-IN" dirty="0">
                <a:latin typeface="Bahnschrift Light Condensed" panose="020B0502040204020203" pitchFamily="34" charset="0"/>
                <a:cs typeface="Arial" panose="020B0604020202020204" pitchFamily="34" charset="0"/>
              </a:rPr>
              <a:t>Your Analysis Should Include:</a:t>
            </a:r>
          </a:p>
          <a:p>
            <a:r>
              <a:rPr lang="en-IN" dirty="0"/>
              <a:t>1</a:t>
            </a:r>
            <a:r>
              <a:rPr lang="en-IN" b="1" dirty="0"/>
              <a:t>. Seasonal Trends:</a:t>
            </a:r>
          </a:p>
          <a:p>
            <a:r>
              <a:rPr lang="en-IN" dirty="0"/>
              <a:t>o </a:t>
            </a:r>
            <a:r>
              <a:rPr lang="en-IN" dirty="0">
                <a:latin typeface="Bahnschrift Light Condensed" panose="020B0502040204020203" pitchFamily="34" charset="0"/>
              </a:rPr>
              <a:t>Are there any months or seasons when consumer complaints spike?</a:t>
            </a:r>
          </a:p>
          <a:p>
            <a:r>
              <a:rPr lang="en-IN" dirty="0">
                <a:latin typeface="Bahnschrift Light Condensed" panose="020B0502040204020203" pitchFamily="34" charset="0"/>
              </a:rPr>
              <a:t>o Can you identify patterns across years?</a:t>
            </a:r>
          </a:p>
          <a:p>
            <a:r>
              <a:rPr lang="en-IN" dirty="0"/>
              <a:t>2</a:t>
            </a:r>
            <a:r>
              <a:rPr lang="en-IN" b="1" dirty="0"/>
              <a:t>. Product-Level Insights</a:t>
            </a:r>
            <a:r>
              <a:rPr lang="en-IN" dirty="0"/>
              <a:t>:</a:t>
            </a:r>
          </a:p>
          <a:p>
            <a:r>
              <a:rPr lang="en-IN" dirty="0"/>
              <a:t>o </a:t>
            </a:r>
            <a:r>
              <a:rPr lang="en-IN" dirty="0">
                <a:latin typeface="Bahnschrift Light Condensed" panose="020B0502040204020203" pitchFamily="34" charset="0"/>
              </a:rPr>
              <a:t>Which financial products receive the most complaints?</a:t>
            </a:r>
          </a:p>
          <a:p>
            <a:r>
              <a:rPr lang="en-IN" dirty="0">
                <a:latin typeface="Bahnschrift Light Condensed" panose="020B0502040204020203" pitchFamily="34" charset="0"/>
              </a:rPr>
              <a:t>o What are the top 3 issues associated with the top product?</a:t>
            </a:r>
          </a:p>
          <a:p>
            <a:r>
              <a:rPr lang="en-IN" dirty="0"/>
              <a:t>3</a:t>
            </a:r>
            <a:r>
              <a:rPr lang="en-IN" b="1" dirty="0"/>
              <a:t>. Resolution and Timeliness:</a:t>
            </a:r>
          </a:p>
          <a:p>
            <a:r>
              <a:rPr lang="en-IN" dirty="0">
                <a:latin typeface="Bahnschrift Light Condensed" panose="020B0502040204020203" pitchFamily="34" charset="0"/>
              </a:rPr>
              <a:t>o How are complaints typically resolved (e.g., closed with explanation, relief</a:t>
            </a:r>
          </a:p>
          <a:p>
            <a:r>
              <a:rPr lang="en-IN" dirty="0">
                <a:latin typeface="Bahnschrift Light Condensed" panose="020B0502040204020203" pitchFamily="34" charset="0"/>
              </a:rPr>
              <a:t>provided)?</a:t>
            </a:r>
          </a:p>
          <a:p>
            <a:r>
              <a:rPr lang="en-IN" dirty="0"/>
              <a:t>o </a:t>
            </a:r>
            <a:r>
              <a:rPr lang="en-IN" dirty="0">
                <a:latin typeface="Bahnschrift Light Condensed" panose="020B0502040204020203" pitchFamily="34" charset="0"/>
              </a:rPr>
              <a:t>What percentage of complaints receive untimely responses?</a:t>
            </a:r>
          </a:p>
          <a:p>
            <a:r>
              <a:rPr lang="en-IN" b="1" dirty="0"/>
              <a:t>4. Deeper Insights (Optional):</a:t>
            </a:r>
          </a:p>
          <a:p>
            <a:r>
              <a:rPr lang="en-IN" dirty="0">
                <a:latin typeface="Bahnschrift Light Condensed" panose="020B0502040204020203" pitchFamily="34" charset="0"/>
              </a:rPr>
              <a:t>o Are untimely responses more frequent for specific product types or issues?</a:t>
            </a:r>
          </a:p>
          <a:p>
            <a:r>
              <a:rPr lang="en-IN" dirty="0">
                <a:latin typeface="Bahnschrift Light Condensed" panose="020B0502040204020203" pitchFamily="34" charset="0"/>
              </a:rPr>
              <a:t>o How does resolution type vary across complaint categories?</a:t>
            </a:r>
          </a:p>
        </p:txBody>
      </p:sp>
    </p:spTree>
    <p:extLst>
      <p:ext uri="{BB962C8B-B14F-4D97-AF65-F5344CB8AC3E}">
        <p14:creationId xmlns:p14="http://schemas.microsoft.com/office/powerpoint/2010/main" val="667593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7A8FAC-B9E6-408C-A7E2-0782BD26EEEB}"/>
              </a:ext>
            </a:extLst>
          </p:cNvPr>
          <p:cNvSpPr txBox="1"/>
          <p:nvPr/>
        </p:nvSpPr>
        <p:spPr>
          <a:xfrm>
            <a:off x="1634066" y="351852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🗂️ </a:t>
            </a:r>
            <a:r>
              <a:rPr lang="en-IN" b="1" dirty="0"/>
              <a:t>Dataset Overview</a:t>
            </a:r>
            <a:r>
              <a:rPr lang="en-IN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84B69A-66D6-4CC1-AC29-746FFCE15423}"/>
              </a:ext>
            </a:extLst>
          </p:cNvPr>
          <p:cNvSpPr txBox="1"/>
          <p:nvPr/>
        </p:nvSpPr>
        <p:spPr>
          <a:xfrm>
            <a:off x="1634066" y="833104"/>
            <a:ext cx="104309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Bahnschrift Light Condensed" panose="020B0502040204020203" pitchFamily="34" charset="0"/>
              </a:rPr>
              <a:t>This dataset captures </a:t>
            </a:r>
            <a:r>
              <a:rPr lang="en-GB" b="1" dirty="0">
                <a:latin typeface="Bahnschrift Light Condensed" panose="020B0502040204020203" pitchFamily="34" charset="0"/>
              </a:rPr>
              <a:t>consumer complaints</a:t>
            </a:r>
            <a:r>
              <a:rPr lang="en-GB" dirty="0">
                <a:latin typeface="Bahnschrift Light Condensed" panose="020B0502040204020203" pitchFamily="34" charset="0"/>
              </a:rPr>
              <a:t> submitted to the </a:t>
            </a:r>
            <a:r>
              <a:rPr lang="en-GB" b="1" dirty="0">
                <a:latin typeface="Bahnschrift Light Condensed" panose="020B0502040204020203" pitchFamily="34" charset="0"/>
              </a:rPr>
              <a:t>Consumer Financial Protection Bureau (CFPB)</a:t>
            </a:r>
            <a:r>
              <a:rPr lang="en-GB" dirty="0">
                <a:latin typeface="Bahnschrift Light Condensed" panose="020B0502040204020203" pitchFamily="34" charset="0"/>
              </a:rPr>
              <a:t> regarding financial products and services offered by </a:t>
            </a:r>
            <a:r>
              <a:rPr lang="en-GB" b="1" dirty="0">
                <a:latin typeface="Bahnschrift Light Condensed" panose="020B0502040204020203" pitchFamily="34" charset="0"/>
              </a:rPr>
              <a:t>Bank of America</a:t>
            </a:r>
            <a:r>
              <a:rPr lang="en-GB" dirty="0">
                <a:latin typeface="Bahnschrift Light Condensed" panose="020B0502040204020203" pitchFamily="34" charset="0"/>
              </a:rPr>
              <a:t> between </a:t>
            </a:r>
            <a:r>
              <a:rPr lang="en-GB" b="1" dirty="0">
                <a:latin typeface="Bahnschrift Light Condensed" panose="020B0502040204020203" pitchFamily="34" charset="0"/>
              </a:rPr>
              <a:t>2017 and 2023</a:t>
            </a:r>
            <a:r>
              <a:rPr lang="en-GB" dirty="0">
                <a:latin typeface="Bahnschrift Light Condensed" panose="020B0502040204020203" pitchFamily="34" charset="0"/>
              </a:rPr>
              <a:t>. It enables deep analysis of customer dissatisfaction, issue patterns, resolution efficiency, and organizational accountability</a:t>
            </a:r>
            <a:endParaRPr lang="en-IN" dirty="0">
              <a:latin typeface="Bahnschrift Light Condense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2EE0C4-52C0-46B8-8987-72ABEEBE7D82}"/>
              </a:ext>
            </a:extLst>
          </p:cNvPr>
          <p:cNvSpPr txBox="1"/>
          <p:nvPr/>
        </p:nvSpPr>
        <p:spPr>
          <a:xfrm>
            <a:off x="1634066" y="2257273"/>
            <a:ext cx="931333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📌 Key Features of the Dataset</a:t>
            </a:r>
          </a:p>
          <a:p>
            <a:r>
              <a:rPr lang="en-GB" b="1" dirty="0"/>
              <a:t>🔹 Complaint Details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Complaint ID</a:t>
            </a:r>
            <a:r>
              <a:rPr lang="en-GB" dirty="0"/>
              <a:t> – </a:t>
            </a:r>
            <a:r>
              <a:rPr lang="en-GB" dirty="0">
                <a:latin typeface="Bahnschrift Light Condensed" panose="020B0502040204020203" pitchFamily="34" charset="0"/>
              </a:rPr>
              <a:t>Unique identifier for each complaint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Date Submitted</a:t>
            </a:r>
            <a:r>
              <a:rPr lang="en-GB" dirty="0"/>
              <a:t> – </a:t>
            </a:r>
            <a:r>
              <a:rPr lang="en-GB" dirty="0">
                <a:latin typeface="Bahnschrift Light Condensed" panose="020B0502040204020203" pitchFamily="34" charset="0"/>
              </a:rPr>
              <a:t>Date when the complaint was filed by the consumer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Date Received</a:t>
            </a:r>
            <a:r>
              <a:rPr lang="en-GB" dirty="0"/>
              <a:t> – </a:t>
            </a:r>
            <a:r>
              <a:rPr lang="en-GB" dirty="0">
                <a:latin typeface="Bahnschrift Light Condensed" panose="020B0502040204020203" pitchFamily="34" charset="0"/>
              </a:rPr>
              <a:t>Date the CFPB received the complaint</a:t>
            </a:r>
          </a:p>
          <a:p>
            <a:r>
              <a:rPr lang="en-GB" b="1" dirty="0"/>
              <a:t>🔹 Product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Product</a:t>
            </a:r>
            <a:r>
              <a:rPr lang="en-GB" dirty="0"/>
              <a:t> – </a:t>
            </a:r>
            <a:r>
              <a:rPr lang="en-GB" dirty="0">
                <a:latin typeface="Bahnschrift Light Condensed" panose="020B0502040204020203" pitchFamily="34" charset="0"/>
              </a:rPr>
              <a:t>Main financial product involved (e.g., Credit card, Mortgage, Checking account)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Sub-product</a:t>
            </a:r>
            <a:r>
              <a:rPr lang="en-GB" dirty="0"/>
              <a:t> – </a:t>
            </a:r>
            <a:r>
              <a:rPr lang="en-GB" dirty="0">
                <a:latin typeface="Bahnschrift Light Condensed" panose="020B0502040204020203" pitchFamily="34" charset="0"/>
              </a:rPr>
              <a:t>More specific product classification (e.g., General-purpose card, Home equity loan)</a:t>
            </a:r>
          </a:p>
        </p:txBody>
      </p:sp>
    </p:spTree>
    <p:extLst>
      <p:ext uri="{BB962C8B-B14F-4D97-AF65-F5344CB8AC3E}">
        <p14:creationId xmlns:p14="http://schemas.microsoft.com/office/powerpoint/2010/main" val="2427718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7F07CD-A26F-41ED-BE48-CAC2F5750706}"/>
              </a:ext>
            </a:extLst>
          </p:cNvPr>
          <p:cNvSpPr txBox="1"/>
          <p:nvPr/>
        </p:nvSpPr>
        <p:spPr>
          <a:xfrm>
            <a:off x="4936067" y="3642267"/>
            <a:ext cx="37930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SQL Queries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A14CE8-24C0-48FC-9C20-58F7AA35F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1113" y="3642267"/>
            <a:ext cx="1305107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65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6A51B9-64D7-43FD-9CB0-8AC3A1BBEFD9}"/>
              </a:ext>
            </a:extLst>
          </p:cNvPr>
          <p:cNvSpPr txBox="1"/>
          <p:nvPr/>
        </p:nvSpPr>
        <p:spPr>
          <a:xfrm>
            <a:off x="1693334" y="365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Seasonal Trends analysis.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A55390-5DCD-4701-B61E-15BB517567B1}"/>
              </a:ext>
            </a:extLst>
          </p:cNvPr>
          <p:cNvSpPr txBox="1"/>
          <p:nvPr/>
        </p:nvSpPr>
        <p:spPr>
          <a:xfrm>
            <a:off x="1515533" y="96313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1.1 find months when consumer complaints spike</a:t>
            </a:r>
            <a:r>
              <a:rPr lang="en-IN" b="1" dirty="0"/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5378C-3330-4F8C-8175-5C4055892A65}"/>
              </a:ext>
            </a:extLst>
          </p:cNvPr>
          <p:cNvSpPr txBox="1"/>
          <p:nvPr/>
        </p:nvSpPr>
        <p:spPr>
          <a:xfrm>
            <a:off x="1354667" y="3429000"/>
            <a:ext cx="458412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sz="2000" b="1" dirty="0"/>
              <a:t>1.2 identify patterns across years?</a:t>
            </a:r>
          </a:p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23F5F62-E296-412B-9A89-325137526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295" y="1639228"/>
            <a:ext cx="4021666" cy="19239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98EEF3-5948-467E-B965-31C962904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295" y="3970868"/>
            <a:ext cx="3877733" cy="211548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F5CE8A9-D915-4D9D-9281-97818AF6E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5533" y="1773454"/>
            <a:ext cx="4671008" cy="165554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6316248-92B1-47DE-86ED-7A449FBEE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4667" y="3936734"/>
            <a:ext cx="5392641" cy="223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175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6C406A-C962-40E3-AAAA-333B82B36C1D}"/>
              </a:ext>
            </a:extLst>
          </p:cNvPr>
          <p:cNvSpPr txBox="1"/>
          <p:nvPr/>
        </p:nvSpPr>
        <p:spPr>
          <a:xfrm>
            <a:off x="1710266" y="238668"/>
            <a:ext cx="2700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Product-Level Insights: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82DA0-729B-48F7-821A-1CF13BE47ADE}"/>
              </a:ext>
            </a:extLst>
          </p:cNvPr>
          <p:cNvSpPr txBox="1"/>
          <p:nvPr/>
        </p:nvSpPr>
        <p:spPr>
          <a:xfrm>
            <a:off x="1591734" y="608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2.1 Which financial products receive the most complaints</a:t>
            </a:r>
            <a:r>
              <a:rPr lang="en-IN" dirty="0"/>
              <a:t>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13C099-8B78-46FE-B411-7D3A14FF5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513" y="1098350"/>
            <a:ext cx="3733800" cy="17543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C8500E6-E808-43CD-83CC-D9CCD6DDC994}"/>
              </a:ext>
            </a:extLst>
          </p:cNvPr>
          <p:cNvSpPr txBox="1"/>
          <p:nvPr/>
        </p:nvSpPr>
        <p:spPr>
          <a:xfrm>
            <a:off x="1176866" y="2973694"/>
            <a:ext cx="7023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2.2 What are the top 3 issues associated with the top product</a:t>
            </a:r>
            <a:r>
              <a:rPr lang="en-IN" b="1" dirty="0"/>
              <a:t>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ED1145F-10C5-44E3-B068-A4DE6D977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733" y="3776132"/>
            <a:ext cx="3556000" cy="277706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C52AC73-48D7-485A-8A83-AF649769F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1734" y="948604"/>
            <a:ext cx="5838969" cy="192756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AC16FAD-D730-4B9E-BDB3-ABC86538A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6866" y="3647975"/>
            <a:ext cx="7023858" cy="312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004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0C74A4-024D-4E9E-A808-0D6801938280}"/>
              </a:ext>
            </a:extLst>
          </p:cNvPr>
          <p:cNvSpPr txBox="1"/>
          <p:nvPr/>
        </p:nvSpPr>
        <p:spPr>
          <a:xfrm>
            <a:off x="1761066" y="365667"/>
            <a:ext cx="49573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Section 3: Resolution and Timeliness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7E79A4-BEE6-4436-87C5-A3CB237B3D70}"/>
              </a:ext>
            </a:extLst>
          </p:cNvPr>
          <p:cNvSpPr txBox="1"/>
          <p:nvPr/>
        </p:nvSpPr>
        <p:spPr>
          <a:xfrm>
            <a:off x="500514" y="923945"/>
            <a:ext cx="65384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3.1 How are complaints typically resolved?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24A70F-8258-424F-AD1F-D96243329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271" y="848747"/>
            <a:ext cx="3947661" cy="23601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459FC5-9C04-494F-8297-71AA61A36C27}"/>
              </a:ext>
            </a:extLst>
          </p:cNvPr>
          <p:cNvSpPr txBox="1"/>
          <p:nvPr/>
        </p:nvSpPr>
        <p:spPr>
          <a:xfrm>
            <a:off x="1303865" y="3588756"/>
            <a:ext cx="83021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3.2 What percentage of complaints receive untimely responses?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E050440-55D9-4500-8FFA-D86D17A730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484" y="4207712"/>
            <a:ext cx="3541515" cy="149035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7EE110C-31B7-4E96-A487-4082C0EC2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759" y="1342846"/>
            <a:ext cx="7170820" cy="192639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AF2B88E-1AD9-43C1-B6DA-55498831F5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759" y="4308378"/>
            <a:ext cx="7652083" cy="206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409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426057-E78E-4F19-8F1B-EB3185D85A07}"/>
              </a:ext>
            </a:extLst>
          </p:cNvPr>
          <p:cNvSpPr txBox="1"/>
          <p:nvPr/>
        </p:nvSpPr>
        <p:spPr>
          <a:xfrm>
            <a:off x="1676400" y="77800"/>
            <a:ext cx="2573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deeper insights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AAF81D-0148-4C2C-86A3-103FB348AACF}"/>
              </a:ext>
            </a:extLst>
          </p:cNvPr>
          <p:cNvSpPr txBox="1"/>
          <p:nvPr/>
        </p:nvSpPr>
        <p:spPr>
          <a:xfrm>
            <a:off x="616017" y="523502"/>
            <a:ext cx="106551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4.1 Are untimely responses more frequent for specific product types or issues?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5708E6-5227-4E37-B69E-188A6E65C2F7}"/>
              </a:ext>
            </a:extLst>
          </p:cNvPr>
          <p:cNvSpPr txBox="1"/>
          <p:nvPr/>
        </p:nvSpPr>
        <p:spPr>
          <a:xfrm>
            <a:off x="1549399" y="116278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Untimely Responses by Product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90134D-CE11-49EE-8A9D-606BEA23B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1" y="3901094"/>
            <a:ext cx="5670350" cy="28991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9A86C4F-7D37-43C6-98E6-B81C3BBE8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82" y="1777982"/>
            <a:ext cx="10655165" cy="188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432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BE01FE-7772-4E15-907E-8CAFB19861FF}"/>
              </a:ext>
            </a:extLst>
          </p:cNvPr>
          <p:cNvSpPr txBox="1"/>
          <p:nvPr/>
        </p:nvSpPr>
        <p:spPr>
          <a:xfrm>
            <a:off x="1597942" y="25721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 </a:t>
            </a:r>
            <a:r>
              <a:rPr lang="en-IN" sz="2000" b="1" dirty="0"/>
              <a:t>Untimely Responses by Issue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D8F4CB-4BA9-4EA4-9ADD-84BA032C4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085" y="3639388"/>
            <a:ext cx="8208582" cy="30926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85DF4F-0A8B-495D-86DB-8A14CB709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942" y="657327"/>
            <a:ext cx="10337384" cy="277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04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65FEF86-A39F-417C-8AD2-F7833E878F73}"/>
              </a:ext>
            </a:extLst>
          </p:cNvPr>
          <p:cNvSpPr txBox="1"/>
          <p:nvPr/>
        </p:nvSpPr>
        <p:spPr>
          <a:xfrm>
            <a:off x="1591733" y="0"/>
            <a:ext cx="60960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 </a:t>
            </a:r>
            <a:r>
              <a:rPr lang="en-IN" sz="2000" b="1" dirty="0">
                <a:latin typeface="+mj-lt"/>
              </a:rPr>
              <a:t>4.2 How does resolution type vary across complaint categories?</a:t>
            </a:r>
          </a:p>
          <a:p>
            <a:endParaRPr lang="en-IN" b="1" dirty="0">
              <a:latin typeface="+mj-lt"/>
            </a:endParaRPr>
          </a:p>
          <a:p>
            <a:r>
              <a:rPr lang="en-IN" sz="2000" b="1" dirty="0"/>
              <a:t>Resolution by Product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5F2393-CE5D-494E-948D-D194B6CDB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080" y="374493"/>
            <a:ext cx="5321573" cy="30545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177222-D5FE-4336-A94E-3A5AA59B00EB}"/>
              </a:ext>
            </a:extLst>
          </p:cNvPr>
          <p:cNvSpPr txBox="1"/>
          <p:nvPr/>
        </p:nvSpPr>
        <p:spPr>
          <a:xfrm>
            <a:off x="1420147" y="3609940"/>
            <a:ext cx="52239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Resolution by Issue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68EEDB-0337-4343-A459-DCB0D0F54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467" y="3609940"/>
            <a:ext cx="5480186" cy="30862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2C8940F-A759-4BEF-9DCA-6A0DC9D83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763" y="1397676"/>
            <a:ext cx="4982704" cy="196154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567567B-1476-4774-BF04-AAF8B603BD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1733" y="4071605"/>
            <a:ext cx="4645438" cy="249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43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98A027-F12A-4409-A4F1-9727625D674A}"/>
              </a:ext>
            </a:extLst>
          </p:cNvPr>
          <p:cNvSpPr txBox="1"/>
          <p:nvPr/>
        </p:nvSpPr>
        <p:spPr>
          <a:xfrm>
            <a:off x="3501993" y="-407"/>
            <a:ext cx="46989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Insights &amp; Actions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3A50AC-0F15-4E87-99EA-6BA574624F32}"/>
              </a:ext>
            </a:extLst>
          </p:cNvPr>
          <p:cNvSpPr txBox="1"/>
          <p:nvPr/>
        </p:nvSpPr>
        <p:spPr>
          <a:xfrm>
            <a:off x="96253" y="882149"/>
            <a:ext cx="1209574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🔶 1. Seasonal Trends</a:t>
            </a:r>
          </a:p>
          <a:p>
            <a:r>
              <a:rPr lang="en-GB" b="1" dirty="0"/>
              <a:t>Insight: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Complaints show noticeable spikes in certain months (likely December or other year-end periods as per the SQL query).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Year-over-year analysis can reveal whether complaint volumes are increasing, stable, or declining.</a:t>
            </a:r>
          </a:p>
          <a:p>
            <a:r>
              <a:rPr lang="en-GB" b="1" dirty="0"/>
              <a:t>Action: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Allocate more support staff</a:t>
            </a:r>
            <a:r>
              <a:rPr lang="en-GB" dirty="0"/>
              <a:t> during high-complaint months to ensure timely resolution.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Investigate seasonal factors (e.g., billing cycles, holidays, policy changes) that might drive complaint surges.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Implement </a:t>
            </a:r>
            <a:r>
              <a:rPr lang="en-GB" b="1" dirty="0"/>
              <a:t>proactive customer communication</a:t>
            </a:r>
            <a:r>
              <a:rPr lang="en-GB" dirty="0"/>
              <a:t> strategies before peak periods.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0D6088-5134-467E-81D5-8761065EA738}"/>
              </a:ext>
            </a:extLst>
          </p:cNvPr>
          <p:cNvSpPr txBox="1"/>
          <p:nvPr/>
        </p:nvSpPr>
        <p:spPr>
          <a:xfrm>
            <a:off x="1" y="3919141"/>
            <a:ext cx="1206923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🔶 2. Product-Level Insights</a:t>
            </a:r>
          </a:p>
          <a:p>
            <a:r>
              <a:rPr lang="en-GB" b="1" dirty="0"/>
              <a:t>Insight: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Certain financial products like </a:t>
            </a:r>
            <a:r>
              <a:rPr lang="en-GB" b="1" dirty="0"/>
              <a:t>credit cards or mortgages</a:t>
            </a:r>
            <a:r>
              <a:rPr lang="en-GB" dirty="0"/>
              <a:t> receive significantly more complaints than others.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Within the most complained product, a few </a:t>
            </a:r>
            <a:r>
              <a:rPr lang="en-GB" b="1" dirty="0"/>
              <a:t>recurring issues</a:t>
            </a:r>
            <a:r>
              <a:rPr lang="en-GB" dirty="0"/>
              <a:t> dominate (e.g., “billing disputes” or “account closures”).</a:t>
            </a:r>
          </a:p>
          <a:p>
            <a:r>
              <a:rPr lang="en-GB" b="1" dirty="0"/>
              <a:t>Action: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Review </a:t>
            </a:r>
            <a:r>
              <a:rPr lang="en-GB" b="1" dirty="0"/>
              <a:t>policies and procedures</a:t>
            </a:r>
            <a:r>
              <a:rPr lang="en-GB" dirty="0"/>
              <a:t> associated with high-complaint products.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Launch targeted </a:t>
            </a:r>
            <a:r>
              <a:rPr lang="en-GB" b="1" dirty="0"/>
              <a:t>customer education</a:t>
            </a:r>
            <a:r>
              <a:rPr lang="en-GB" dirty="0"/>
              <a:t> programs to reduce misunderstandings.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issue-level insights to </a:t>
            </a:r>
            <a:r>
              <a:rPr lang="en-GB" b="1" dirty="0"/>
              <a:t>prioritize improvements</a:t>
            </a:r>
            <a:r>
              <a:rPr lang="en-GB" dirty="0"/>
              <a:t> in product design or customer service for the top 3 issues.</a:t>
            </a:r>
          </a:p>
        </p:txBody>
      </p:sp>
    </p:spTree>
    <p:extLst>
      <p:ext uri="{BB962C8B-B14F-4D97-AF65-F5344CB8AC3E}">
        <p14:creationId xmlns:p14="http://schemas.microsoft.com/office/powerpoint/2010/main" val="2643033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6741CD-A669-4780-AC1F-A0F4790E9452}"/>
              </a:ext>
            </a:extLst>
          </p:cNvPr>
          <p:cNvSpPr txBox="1"/>
          <p:nvPr/>
        </p:nvSpPr>
        <p:spPr>
          <a:xfrm>
            <a:off x="304801" y="409368"/>
            <a:ext cx="118871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🔶 3. Resolution &amp; Timeliness</a:t>
            </a:r>
          </a:p>
          <a:p>
            <a:r>
              <a:rPr lang="en-GB" b="1" dirty="0"/>
              <a:t>Insight: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majority of complaints are resolved with </a:t>
            </a:r>
            <a:r>
              <a:rPr lang="en-GB" b="1" dirty="0"/>
              <a:t>"Closed with explanation"</a:t>
            </a:r>
            <a:r>
              <a:rPr lang="en-GB" dirty="0"/>
              <a:t> or </a:t>
            </a:r>
            <a:r>
              <a:rPr lang="en-GB" b="1" dirty="0"/>
              <a:t>"Closed with monetary relief"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measurable percentage of complaints (as shown in your query) receive </a:t>
            </a:r>
            <a:r>
              <a:rPr lang="en-GB" b="1" dirty="0"/>
              <a:t>untimely responses</a:t>
            </a:r>
            <a:r>
              <a:rPr lang="en-GB" dirty="0"/>
              <a:t>.</a:t>
            </a:r>
          </a:p>
          <a:p>
            <a:r>
              <a:rPr lang="en-GB" b="1" dirty="0"/>
              <a:t>Action: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Improve </a:t>
            </a:r>
            <a:r>
              <a:rPr lang="en-GB" b="1" dirty="0"/>
              <a:t>response tracking systems</a:t>
            </a:r>
            <a:r>
              <a:rPr lang="en-GB" dirty="0"/>
              <a:t> to flag and escalate overdue cases.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Set </a:t>
            </a:r>
            <a:r>
              <a:rPr lang="en-GB" b="1" dirty="0"/>
              <a:t>internal SLAs</a:t>
            </a:r>
            <a:r>
              <a:rPr lang="en-GB" dirty="0"/>
              <a:t> (Service Level Agreements) stricter than regulatory deadlines.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Train agents on the importance of timeliness for both </a:t>
            </a:r>
            <a:r>
              <a:rPr lang="en-GB" b="1" dirty="0"/>
              <a:t>regulatory compliance</a:t>
            </a:r>
            <a:r>
              <a:rPr lang="en-GB" dirty="0"/>
              <a:t> and customer trust.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A9D762-EDE8-4020-95A7-40C06246F1AC}"/>
              </a:ext>
            </a:extLst>
          </p:cNvPr>
          <p:cNvSpPr txBox="1"/>
          <p:nvPr/>
        </p:nvSpPr>
        <p:spPr>
          <a:xfrm>
            <a:off x="335281" y="3586310"/>
            <a:ext cx="1203959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🔶 4. Deeper Insights</a:t>
            </a:r>
          </a:p>
          <a:p>
            <a:r>
              <a:rPr lang="en-GB" b="1" dirty="0"/>
              <a:t>➤ 4.1 Untimely Responses by Product &amp; Issue</a:t>
            </a:r>
          </a:p>
          <a:p>
            <a:r>
              <a:rPr lang="en-GB" b="1" dirty="0"/>
              <a:t>Insight: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Some product types or complaint categories have a </a:t>
            </a:r>
            <a:r>
              <a:rPr lang="en-GB" b="1" dirty="0"/>
              <a:t>higher rate of delayed responses</a:t>
            </a:r>
            <a:r>
              <a:rPr lang="en-GB" dirty="0"/>
              <a:t>, possibly due to process complexity or volume.</a:t>
            </a:r>
          </a:p>
          <a:p>
            <a:r>
              <a:rPr lang="en-GB" b="1" dirty="0"/>
              <a:t>Action: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Perform </a:t>
            </a:r>
            <a:r>
              <a:rPr lang="en-GB" b="1" dirty="0"/>
              <a:t>root cause analysis</a:t>
            </a:r>
            <a:r>
              <a:rPr lang="en-GB" dirty="0"/>
              <a:t> on the top offending products/issues.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Introduce </a:t>
            </a:r>
            <a:r>
              <a:rPr lang="en-GB" b="1" dirty="0"/>
              <a:t>automation tools</a:t>
            </a:r>
            <a:r>
              <a:rPr lang="en-GB" dirty="0"/>
              <a:t> (e.g., pre-response templates, AI-based triage) for frequently delayed categories.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Reallocate team bandwidth or add expertise for those high-delay areas.</a:t>
            </a:r>
          </a:p>
        </p:txBody>
      </p:sp>
    </p:spTree>
    <p:extLst>
      <p:ext uri="{BB962C8B-B14F-4D97-AF65-F5344CB8AC3E}">
        <p14:creationId xmlns:p14="http://schemas.microsoft.com/office/powerpoint/2010/main" val="2775216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AD6756-54D8-4B06-A963-60AD906B3727}"/>
              </a:ext>
            </a:extLst>
          </p:cNvPr>
          <p:cNvSpPr txBox="1"/>
          <p:nvPr/>
        </p:nvSpPr>
        <p:spPr>
          <a:xfrm>
            <a:off x="1672389" y="157030"/>
            <a:ext cx="38332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Top 3 complaint states each year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D48D4A-F2D3-480B-8DAB-372C68E8B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389" y="526362"/>
            <a:ext cx="4938707" cy="30164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6951CE-619D-4C77-817C-CA1E3B13C278}"/>
              </a:ext>
            </a:extLst>
          </p:cNvPr>
          <p:cNvSpPr txBox="1"/>
          <p:nvPr/>
        </p:nvSpPr>
        <p:spPr>
          <a:xfrm>
            <a:off x="6436096" y="187028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Number of unique issues per year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CDECAB-0A94-4950-B0BD-F5C0C8617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436" y="770021"/>
            <a:ext cx="5139890" cy="27727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0116C8B-8769-41DE-98CE-0BF852F0BB86}"/>
              </a:ext>
            </a:extLst>
          </p:cNvPr>
          <p:cNvSpPr txBox="1"/>
          <p:nvPr/>
        </p:nvSpPr>
        <p:spPr>
          <a:xfrm>
            <a:off x="1497389" y="3799857"/>
            <a:ext cx="6266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Complaint share of each sub-product</a:t>
            </a:r>
            <a:r>
              <a:rPr lang="en-IN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C9A067E-0904-4D3E-9E02-C93C602C6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0841" y="4199967"/>
            <a:ext cx="9634228" cy="265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708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F2ACA0-D4D4-47D5-B6F4-09E18F608E50}"/>
              </a:ext>
            </a:extLst>
          </p:cNvPr>
          <p:cNvSpPr txBox="1"/>
          <p:nvPr/>
        </p:nvSpPr>
        <p:spPr>
          <a:xfrm>
            <a:off x="1605012" y="166656"/>
            <a:ext cx="60976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Total complaints for each response type across years</a:t>
            </a:r>
            <a:r>
              <a:rPr lang="en-IN" sz="24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564DCF-4E97-44EF-BD31-B0B0537C9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56" y="901563"/>
            <a:ext cx="11896825" cy="23888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5A113D-1F60-4228-8A4E-CE165F7F61E5}"/>
              </a:ext>
            </a:extLst>
          </p:cNvPr>
          <p:cNvSpPr txBox="1"/>
          <p:nvPr/>
        </p:nvSpPr>
        <p:spPr>
          <a:xfrm>
            <a:off x="1855269" y="3420499"/>
            <a:ext cx="6097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Count complaints by weekday vs. weekend.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0FE3E9-8B4C-43A2-B4F7-7124E18C7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08" y="4302492"/>
            <a:ext cx="11011301" cy="238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583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77FB6D-7975-4B5C-8DDC-CF7722EAFD92}"/>
              </a:ext>
            </a:extLst>
          </p:cNvPr>
          <p:cNvSpPr txBox="1"/>
          <p:nvPr/>
        </p:nvSpPr>
        <p:spPr>
          <a:xfrm>
            <a:off x="469230" y="255417"/>
            <a:ext cx="904052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#1. Seasonal Trends – SQL Queries</a:t>
            </a:r>
          </a:p>
          <a:p>
            <a:r>
              <a:rPr lang="en-IN" sz="2000" b="1" dirty="0"/>
              <a:t>#🔹 A. Monthly &amp; Yearly Trends (Basic)</a:t>
            </a:r>
          </a:p>
          <a:p>
            <a:r>
              <a:rPr lang="en-IN" sz="2000" b="1" dirty="0"/>
              <a:t>#1.	Total complaints per month (all years)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B78188-1159-43C6-BE91-628460EDD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33" y="1400117"/>
            <a:ext cx="5318693" cy="22289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0421CF0-59CC-4650-BDDF-7C7E25B16E75}"/>
              </a:ext>
            </a:extLst>
          </p:cNvPr>
          <p:cNvSpPr txBox="1"/>
          <p:nvPr/>
        </p:nvSpPr>
        <p:spPr>
          <a:xfrm>
            <a:off x="6311766" y="474664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#2.	Total complaints per year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909BC79-41BF-4972-B46B-E783B6592F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094021"/>
            <a:ext cx="5444691" cy="253506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F68FC41-8D74-4340-A6FC-4141E15F5606}"/>
              </a:ext>
            </a:extLst>
          </p:cNvPr>
          <p:cNvSpPr txBox="1"/>
          <p:nvPr/>
        </p:nvSpPr>
        <p:spPr>
          <a:xfrm>
            <a:off x="180472" y="3929752"/>
            <a:ext cx="62034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#3.	Monthly complaints for each year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86B4D6C-1729-440B-83BD-423E3A4989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7" y="4329862"/>
            <a:ext cx="5111015" cy="244073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FC83CAD-8AFA-40D1-9AEF-CEA1D422E3F8}"/>
              </a:ext>
            </a:extLst>
          </p:cNvPr>
          <p:cNvSpPr txBox="1"/>
          <p:nvPr/>
        </p:nvSpPr>
        <p:spPr>
          <a:xfrm>
            <a:off x="5716603" y="3731050"/>
            <a:ext cx="62034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#4.	Total complaints per quarter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87A1448-5BB4-48E5-925E-B7162CFB57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3026" y="4127356"/>
            <a:ext cx="6054292" cy="253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4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9394CC-3370-4F40-B593-10E85266D888}"/>
              </a:ext>
            </a:extLst>
          </p:cNvPr>
          <p:cNvSpPr txBox="1"/>
          <p:nvPr/>
        </p:nvSpPr>
        <p:spPr>
          <a:xfrm>
            <a:off x="353729" y="143660"/>
            <a:ext cx="99741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#🔹 B. Trend Insights (Intermediate)</a:t>
            </a:r>
          </a:p>
          <a:p>
            <a:r>
              <a:rPr lang="en-GB" sz="2000" b="1" dirty="0"/>
              <a:t>#7.	Compare complaint volumes between 2 years (e.g., 2022 vs 2023)</a:t>
            </a:r>
            <a:endParaRPr lang="en-IN" sz="2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CE2BD9-23DB-4CFC-B66F-730C7630B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56" y="851546"/>
            <a:ext cx="5289818" cy="23285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120DFC-DE79-49A9-8A48-D0D4E6FF4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29" y="4251858"/>
            <a:ext cx="5893067" cy="23285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846F7C-0AA6-40BF-905B-321C2E03560D}"/>
              </a:ext>
            </a:extLst>
          </p:cNvPr>
          <p:cNvSpPr txBox="1"/>
          <p:nvPr/>
        </p:nvSpPr>
        <p:spPr>
          <a:xfrm>
            <a:off x="353729" y="3585294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#8.	Calculate YoY change in complaints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B1B66E-01C8-471A-B43D-42D565FDECDC}"/>
              </a:ext>
            </a:extLst>
          </p:cNvPr>
          <p:cNvSpPr txBox="1"/>
          <p:nvPr/>
        </p:nvSpPr>
        <p:spPr>
          <a:xfrm>
            <a:off x="5643547" y="792909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#9.	Find peak complaint month per year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2CC274E-7A66-4EB1-9BEF-72FD4A23F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81089"/>
            <a:ext cx="5454316" cy="199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651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E9EEAC-FF93-4BB8-851C-AA727E051681}"/>
              </a:ext>
            </a:extLst>
          </p:cNvPr>
          <p:cNvSpPr txBox="1"/>
          <p:nvPr/>
        </p:nvSpPr>
        <p:spPr>
          <a:xfrm>
            <a:off x="276725" y="226541"/>
            <a:ext cx="72406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#C. Weekday/Weekend &amp; Seasonal Buckets (Advanced)</a:t>
            </a:r>
          </a:p>
          <a:p>
            <a:r>
              <a:rPr lang="en-IN" sz="2000" b="1" dirty="0"/>
              <a:t>#10.Complaints by weekday (Mon–Sun)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94C625-BB58-4A39-8C79-96FC4D2A2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25" y="1085441"/>
            <a:ext cx="4603283" cy="22641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5F15F3-AB73-461A-9909-455E484B8C3F}"/>
              </a:ext>
            </a:extLst>
          </p:cNvPr>
          <p:cNvSpPr txBox="1"/>
          <p:nvPr/>
        </p:nvSpPr>
        <p:spPr>
          <a:xfrm>
            <a:off x="0" y="3508409"/>
            <a:ext cx="60976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#11.	Complaints by season (Spring, Summer, Fall, Winter)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44482B-E6E5-45A1-BBEE-106D08C25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28" y="4643897"/>
            <a:ext cx="3972272" cy="19875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B493C2D-09BA-4B37-A8FE-DEA280D5F329}"/>
              </a:ext>
            </a:extLst>
          </p:cNvPr>
          <p:cNvSpPr txBox="1"/>
          <p:nvPr/>
        </p:nvSpPr>
        <p:spPr>
          <a:xfrm>
            <a:off x="5289081" y="934427"/>
            <a:ext cx="66261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#12.Identify months with above-average complaint volumes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8366257-E43E-4874-B169-1B9A8FA6C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3446" y="1801130"/>
            <a:ext cx="5650242" cy="143517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83B5A01-4F6C-42B3-ABAF-2D1BF17A8BBB}"/>
              </a:ext>
            </a:extLst>
          </p:cNvPr>
          <p:cNvSpPr txBox="1"/>
          <p:nvPr/>
        </p:nvSpPr>
        <p:spPr>
          <a:xfrm>
            <a:off x="5813446" y="3846963"/>
            <a:ext cx="61312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#13.Cumulative complaints year-to-date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95BBC7E-7B15-4B24-B64B-E26ED478EA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2674" y="4472421"/>
            <a:ext cx="6139598" cy="217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195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A49D49-28EB-42A5-BEBA-CA4C40178004}"/>
              </a:ext>
            </a:extLst>
          </p:cNvPr>
          <p:cNvSpPr txBox="1"/>
          <p:nvPr/>
        </p:nvSpPr>
        <p:spPr>
          <a:xfrm>
            <a:off x="113096" y="111037"/>
            <a:ext cx="60976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#2. Product-Level Insights – SQL Queries</a:t>
            </a:r>
          </a:p>
          <a:p>
            <a:r>
              <a:rPr lang="en-IN" sz="2000" b="1" dirty="0"/>
              <a:t># A. Product Complaint Volume (Basic)</a:t>
            </a:r>
          </a:p>
          <a:p>
            <a:r>
              <a:rPr lang="en-IN" sz="2000" b="1" dirty="0"/>
              <a:t>#1.	Total complaints per product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8D1742-2F7D-4BE6-9E43-0FE1BAFAC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94" y="1126700"/>
            <a:ext cx="4751965" cy="2302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8A4E69-2F8E-4B1F-859B-C24C04BC721A}"/>
              </a:ext>
            </a:extLst>
          </p:cNvPr>
          <p:cNvSpPr txBox="1"/>
          <p:nvPr/>
        </p:nvSpPr>
        <p:spPr>
          <a:xfrm>
            <a:off x="6456145" y="249536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#2.	Top 5 most complained products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28CBA9-1F4A-4DD3-AEF7-AD68A5CA2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144" y="961792"/>
            <a:ext cx="4751965" cy="24672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2CD8455-0AAA-4358-8889-C1A6D30A6323}"/>
              </a:ext>
            </a:extLst>
          </p:cNvPr>
          <p:cNvSpPr txBox="1"/>
          <p:nvPr/>
        </p:nvSpPr>
        <p:spPr>
          <a:xfrm>
            <a:off x="180474" y="3741146"/>
            <a:ext cx="6275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#3.	Percentage share of each product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501D954-66B2-4A1D-815C-20B70FCC9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474" y="4218200"/>
            <a:ext cx="4648439" cy="25287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C8C32E-D689-49C7-9A06-1E8D713B2AC9}"/>
              </a:ext>
            </a:extLst>
          </p:cNvPr>
          <p:cNvSpPr txBox="1"/>
          <p:nvPr/>
        </p:nvSpPr>
        <p:spPr>
          <a:xfrm>
            <a:off x="5735856" y="3664202"/>
            <a:ext cx="6275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#4.	Product complaint count per year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43D06A3-5882-48CA-998F-269E2F7B22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2602" y="4081001"/>
            <a:ext cx="6406097" cy="277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054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BA0676-25A8-4C2A-A546-694A87A70BD8}"/>
              </a:ext>
            </a:extLst>
          </p:cNvPr>
          <p:cNvSpPr txBox="1"/>
          <p:nvPr/>
        </p:nvSpPr>
        <p:spPr>
          <a:xfrm>
            <a:off x="74596" y="0"/>
            <a:ext cx="60976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#🔹 B. Top Issues per Product (Intermediate)</a:t>
            </a:r>
          </a:p>
          <a:p>
            <a:r>
              <a:rPr lang="en-IN" sz="2000" b="1" dirty="0"/>
              <a:t>#5.	Top 3 issues for each product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19DC15-D339-4244-8FF2-BDA872FF5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96" y="707886"/>
            <a:ext cx="6229951" cy="28727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6EC674-0AED-45F8-A252-0EAB4C41C983}"/>
              </a:ext>
            </a:extLst>
          </p:cNvPr>
          <p:cNvSpPr txBox="1"/>
          <p:nvPr/>
        </p:nvSpPr>
        <p:spPr>
          <a:xfrm>
            <a:off x="74596" y="3737629"/>
            <a:ext cx="60976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#6.	Issues for the top product only (with subquery)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9F3D52-35B8-4B76-B4FE-F4DA0FA57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15" y="4602546"/>
            <a:ext cx="4576369" cy="21062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C7031C8-60A6-4F98-B09A-D6957179FEF3}"/>
              </a:ext>
            </a:extLst>
          </p:cNvPr>
          <p:cNvSpPr txBox="1"/>
          <p:nvPr/>
        </p:nvSpPr>
        <p:spPr>
          <a:xfrm>
            <a:off x="5147109" y="3737629"/>
            <a:ext cx="68267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#🔹 C. Product &amp; Issue Trends (Advanced)</a:t>
            </a:r>
          </a:p>
          <a:p>
            <a:r>
              <a:rPr lang="en-IN" sz="2000" b="1" dirty="0"/>
              <a:t>#8.	Monthly complaints by product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E75EC21-8AB5-41C4-8CFC-92556BB20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0700" y="4531669"/>
            <a:ext cx="6343127" cy="224801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578D086-88BE-4BEC-93CE-6F46E64C2FD9}"/>
              </a:ext>
            </a:extLst>
          </p:cNvPr>
          <p:cNvSpPr txBox="1"/>
          <p:nvPr/>
        </p:nvSpPr>
        <p:spPr>
          <a:xfrm>
            <a:off x="6096000" y="110811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#9.	Yearly </a:t>
            </a:r>
            <a:r>
              <a:rPr lang="en-IN" sz="2000" b="1" dirty="0"/>
              <a:t>complaints</a:t>
            </a:r>
            <a:r>
              <a:rPr lang="en-IN" b="1" dirty="0"/>
              <a:t> by product and issue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587323B-F927-4CE4-A770-75AB0DDAB8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597076"/>
            <a:ext cx="5854711" cy="298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407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B71B9B-EAE3-487B-82B0-17DE11B29157}"/>
              </a:ext>
            </a:extLst>
          </p:cNvPr>
          <p:cNvSpPr txBox="1"/>
          <p:nvPr/>
        </p:nvSpPr>
        <p:spPr>
          <a:xfrm>
            <a:off x="113096" y="157030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#10.Complaint volume trend for top 3 products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C59F8B-D2F4-4CEB-A9B8-F09B436F7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92" y="557140"/>
            <a:ext cx="6097604" cy="28718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8D5878-9403-4ED6-9060-7C9E6E515754}"/>
              </a:ext>
            </a:extLst>
          </p:cNvPr>
          <p:cNvSpPr txBox="1"/>
          <p:nvPr/>
        </p:nvSpPr>
        <p:spPr>
          <a:xfrm>
            <a:off x="225992" y="3579879"/>
            <a:ext cx="60976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#🔹 B. Timeliness of Responses (Intermediate)</a:t>
            </a:r>
          </a:p>
          <a:p>
            <a:r>
              <a:rPr lang="en-IN" sz="2000" b="1" dirty="0"/>
              <a:t>#4.</a:t>
            </a:r>
            <a:r>
              <a:rPr lang="en-GB" sz="2000" b="1" dirty="0"/>
              <a:t>Percentage of untimely complaints</a:t>
            </a:r>
            <a:endParaRPr lang="en-IN" sz="20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0B1C6E-4E99-458C-A9C8-E94D694BE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95" y="4825379"/>
            <a:ext cx="5565809" cy="16042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E066F8A-D9CB-4F82-9FD0-78608650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798" y="4129238"/>
            <a:ext cx="6097603" cy="272876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5AD2DE1-6819-4486-AEE0-63366C0C57E7}"/>
              </a:ext>
            </a:extLst>
          </p:cNvPr>
          <p:cNvSpPr txBox="1"/>
          <p:nvPr/>
        </p:nvSpPr>
        <p:spPr>
          <a:xfrm>
            <a:off x="6323596" y="3644444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#5</a:t>
            </a:r>
            <a:r>
              <a:rPr lang="en-GB" sz="2000" b="1" dirty="0"/>
              <a:t>.	Product-wise untimely response rate</a:t>
            </a:r>
            <a:endParaRPr lang="en-IN" sz="2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5B3E95-041B-4A06-8EDD-01240B2EBE53}"/>
              </a:ext>
            </a:extLst>
          </p:cNvPr>
          <p:cNvSpPr txBox="1"/>
          <p:nvPr/>
        </p:nvSpPr>
        <p:spPr>
          <a:xfrm>
            <a:off x="6530741" y="157030"/>
            <a:ext cx="62082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#6.	Timely vs Untimely response by year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A49F5EE-1799-4D81-879F-67B5E23CE9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2542" y="557140"/>
            <a:ext cx="5223466" cy="287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02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DBA6BE-A36F-40F7-9297-1409A19DA981}"/>
              </a:ext>
            </a:extLst>
          </p:cNvPr>
          <p:cNvSpPr txBox="1"/>
          <p:nvPr/>
        </p:nvSpPr>
        <p:spPr>
          <a:xfrm>
            <a:off x="911993" y="211037"/>
            <a:ext cx="103303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#C. Resolution + Timeliness (Advanced)</a:t>
            </a:r>
          </a:p>
          <a:p>
            <a:r>
              <a:rPr lang="en-IN" sz="2000" b="1" dirty="0"/>
              <a:t>#8.	Timeliness distribution across resolution types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08F8A7-30D5-40E8-8C7E-A6C0AA0E9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627" y="1078411"/>
            <a:ext cx="11682953" cy="23505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C7E8F9-8F45-4FC0-9420-1B05738811C9}"/>
              </a:ext>
            </a:extLst>
          </p:cNvPr>
          <p:cNvSpPr txBox="1"/>
          <p:nvPr/>
        </p:nvSpPr>
        <p:spPr>
          <a:xfrm>
            <a:off x="680987" y="3663082"/>
            <a:ext cx="9213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#9.	Top 5 resolution types with highest untimely response rate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68DF52-A9E9-416D-9D31-9C765E616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27" y="4225491"/>
            <a:ext cx="11346070" cy="242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34634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369</TotalTime>
  <Words>1131</Words>
  <Application>Microsoft Office PowerPoint</Application>
  <PresentationFormat>Widescreen</PresentationFormat>
  <Paragraphs>122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Arial Narrow</vt:lpstr>
      <vt:lpstr>Bahnschrift Light Condensed</vt:lpstr>
      <vt:lpstr>Century Gothic</vt:lpstr>
      <vt:lpstr>Vapor Trail</vt:lpstr>
      <vt:lpstr>CONSUMER COMPLAINTS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CONSUMER COMPLAINTS</dc:title>
  <dc:creator>HP</dc:creator>
  <cp:lastModifiedBy>HP</cp:lastModifiedBy>
  <cp:revision>32</cp:revision>
  <dcterms:created xsi:type="dcterms:W3CDTF">2025-07-29T09:00:15Z</dcterms:created>
  <dcterms:modified xsi:type="dcterms:W3CDTF">2025-07-30T16:35:49Z</dcterms:modified>
</cp:coreProperties>
</file>